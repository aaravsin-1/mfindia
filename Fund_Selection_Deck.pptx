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line: 'I built an ML model that ranks Indian equity funds WITHIN their category to make fund selection easier for retail investors. It does not beat the market -- it beats a like-for-like peer benchmark by about 2.4% a year, and I validated that honestly.' Tune depth to the audience from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Layperson: 'It's a shortlist, not a crystal ball.' Manager: framing the business problem -- decision support for selection. Quant: note the target is category-relative, so we're measuring selection skill, not market beta.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corrupted-NAV fix is the credibility moment for a quant: shows we audit the target, not just the model. Manager: data governance was taken seriously. Layperson: 'garbage in, garbage out -- so I cleaned the garbage first.'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them across ONE row. Layperson: 'each row is a fund's report card, plus what happened afterwards.' Quant: features are point-in-time; target is 3-yr forward category-relative alpha -- strictly out-of-sample by cohort.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Layperson: 'like a flowchart of yes/no questions.' Quant: 50 trees, depth 3, deliberately small to resist overfitting on ~1,800 rows; this is tree 0, note the top splits are 3-yr return and hit-rate -- consistent with the importance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Manager: this maps to how a human analyst thinks -- defensible, explainable. Quant: features are cohort-standardised where needed; holdings-based features are future work (data-linkage gap).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twist: return and AUM matter most, but the RELATIONSHIP is inverse (mean reversion + small-fund effect). Is-team ~0% -&gt; honestly, one feature earns its keep barely at all; kept for interpretability.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intellectually honest highlight. It directly proves the intro claim (past performance is unreliable). Quant: this is category-relative mean reversion + a small-fund tilt; it's also why ~30% of the edge is a size factor (later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the cloud is noisy -- one fund is nearly a coin-flip. IC ~0.1 is considered good in this field. Quant: permutation p&lt;0.001; within-category IC up to +0.18. Layperson: 'slightly better than a coin flip, every year, adds up.'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framing for a quant: the benchmark is category-MATCHED, so we measure pure selection, not size/style tilt. Manager: 'we compared like with like.' The strategy is just the experiment made investable.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7/7 is the headline. Quant: Newey-West t=3.30 (p~0.001) after correcting for overlapping windows; cohort block-bootstrap 95% CI [+1.37%, +3.36%]; sign test 7/7 p=0.008. Manager: consistency matters more than the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slide. Manager: don't oversell large-cap. Quant: dispersion = opportunity; in efficient segments there's little to pick between funds. This also foreshadows the size-factor decomposition.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Negative control is a STANDARD method -- the novelty is only in applying it here, where fund back-tests usually skip it. The honest headline: I killed my own overclaim. That's what makes the surviving +1.72% skill believable.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trust slide for EVERY audience. Say it plainly. Layperson: 'it will not protect you in a crash.' Manager: bounded, not oversold. Quant: relative, concentrated, single regime -- forward test is the only true out-of-sample mitigation.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Manager: five concrete deliverables, not a notebook. Note retail list vs strategy list -- retail investors read the LIST, they don't have to follow our strategy (others may have better strategies).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Layperson: small edge, compounded, matters. Manager next steps: continue paper trade (review quarterly), add each new cohort, close the holdings data-linkage gap (highest-potential unexplored signal). End on: honest, modest,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9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360"/>
            <a:ext cx="12191695" cy="82296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Using Machine Learning to Assist</a:t>
            </a:r>
          </a:p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Mutual-Fund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1">
                <a:solidFill>
                  <a:srgbClr val="C9D4E6"/>
                </a:solidFill>
                <a:latin typeface="Calibri"/>
              </a:rPr>
              <a:t>Ranking Indian active-equity funds within their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D99A2B"/>
                </a:solidFill>
                <a:latin typeface="Calibri"/>
              </a:rPr>
              <a:t>+2.4% / year vs a like-for-like benchmark   |   positive in all 7 back-test years   |   honestly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9AA6BC"/>
                </a:solidFill>
                <a:latin typeface="Calibri"/>
              </a:rPr>
              <a:t>Aarav Singhal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A2947"/>
                </a:solidFill>
                <a:latin typeface="Calibri"/>
              </a:rPr>
              <a:t>The problem: too many funds, one lazy heuristic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A2947"/>
                </a:solidFill>
                <a:latin typeface="Calibri"/>
              </a:rPr>
              <a:t>Hundreds of active equity funds, growing every year.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A2947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A2947"/>
                </a:solidFill>
                <a:latin typeface="Calibri"/>
              </a:rPr>
              <a:t>No retail investor can compare them all -- so most fall back on a single heuristic:  pick whatever had the highest recent return.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A2947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A2947"/>
                </a:solidFill>
                <a:latin typeface="Calibri"/>
              </a:rPr>
              <a:t>Decades of evidence say that heuristic is unreliable -- past return alone barely predicts future out-performance.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554480"/>
            <a:ext cx="5486400" cy="4206240"/>
          </a:xfrm>
          <a:prstGeom prst="rect">
            <a:avLst/>
          </a:prstGeom>
          <a:solidFill>
            <a:srgbClr val="F2F5FA"/>
          </a:solidFill>
          <a:ln>
            <a:solidFill>
              <a:srgbClr val="2F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93776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A2947"/>
                </a:solidFill>
                <a:latin typeface="Calibri"/>
              </a:rPr>
              <a:t>The goal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A2947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A2947"/>
                </a:solidFill>
                <a:latin typeface="Calibri"/>
              </a:rPr>
              <a:t>Find real, repeatable patterns in fund data that rank funds by their likely next-3-year category-relative return -- and group them by risk -- so a retail investor gets a short, trustworthy shortlist instead of 300 tabs.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F6FB0"/>
                </a:solidFill>
                <a:latin typeface="Calibri"/>
              </a:rPr>
              <a:t>The goal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A2947"/>
                </a:solidFill>
                <a:latin typeface="Calibri"/>
              </a:rPr>
              <a:t>The foundation: a lot of clean historical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2651760" cy="1737360"/>
          </a:xfrm>
          <a:prstGeom prst="rect">
            <a:avLst/>
          </a:prstGeom>
          <a:solidFill>
            <a:srgbClr val="1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500" b="1" i="0">
                <a:solidFill>
                  <a:srgbClr val="D99A2B"/>
                </a:solidFill>
                <a:latin typeface="Calibri"/>
              </a:rPr>
              <a:t>Millions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NAV / AUM / TER rows from AMFI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554480"/>
            <a:ext cx="2651760" cy="1737360"/>
          </a:xfrm>
          <a:prstGeom prst="rect">
            <a:avLst/>
          </a:prstGeom>
          <a:solidFill>
            <a:srgbClr val="1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500" b="1" i="0">
                <a:solidFill>
                  <a:srgbClr val="D99A2B"/>
                </a:solidFill>
                <a:latin typeface="Calibri"/>
              </a:rPr>
              <a:t>2.5M+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51460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portfolio holdings, historical &amp; 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2651760" cy="1737360"/>
          </a:xfrm>
          <a:prstGeom prst="rect">
            <a:avLst/>
          </a:prstGeom>
          <a:solidFill>
            <a:srgbClr val="1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500" b="1" i="0">
                <a:solidFill>
                  <a:srgbClr val="D99A2B"/>
                </a:solidFill>
                <a:latin typeface="Calibri"/>
              </a:rPr>
              <a:t>Every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51460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manager &amp; tenure for active funds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1554480"/>
            <a:ext cx="2651760" cy="1737360"/>
          </a:xfrm>
          <a:prstGeom prst="rect">
            <a:avLst/>
          </a:prstGeom>
          <a:solidFill>
            <a:srgbClr val="1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7830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500" b="1" i="0">
                <a:solidFill>
                  <a:srgbClr val="D99A2B"/>
                </a:solidFill>
                <a:latin typeface="Calibri"/>
              </a:rPr>
              <a:t>~250 / 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51460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funds per cohort, 2013-2022 (1,841 rows)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2947"/>
                </a:solidFill>
                <a:latin typeface="Calibri"/>
              </a:rPr>
              <a:t>Two honest data problems I found and fixed: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5196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2947"/>
                </a:solidFill>
                <a:latin typeface="Calibri"/>
              </a:rPr>
              <a:t>1.  TER (cost) data was unreliable before 2018  -&gt;  handled so it never leaks into the target.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2947"/>
                </a:solidFill>
                <a:latin typeface="Calibri"/>
              </a:rPr>
              <a:t>2.  A corrupted NAV showed a +4,367% 3-year return, poisoning the training target  -&gt;  fixed with an outlier filter + trimmed benchmark (worst per-group error 1.85  -&gt;  0.16).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2947"/>
                </a:solidFill>
                <a:latin typeface="Calibri"/>
              </a:rPr>
              <a:t>What we feed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07B"/>
                </a:solidFill>
                <a:latin typeface="Calibri"/>
              </a:rPr>
              <a:t>One row = one fund at one moment. 9 input numbers we know today; 1 target = what happened next.</a:t>
            </a:r>
          </a:p>
        </p:txBody>
      </p:sp>
      <p:pic>
        <p:nvPicPr>
          <p:cNvPr id="5" name="Picture 4" descr="fig_inpu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7761"/>
            <a:ext cx="11091672" cy="37368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1672" cy="566928"/>
          </a:xfrm>
          <a:prstGeom prst="rect">
            <a:avLst/>
          </a:prstGeom>
          <a:solidFill>
            <a:srgbClr val="1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Takeaway:  The model sees thousands of these rows and learns which combinations of the 9 numbers tend to beat the category.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2947"/>
                </a:solidFill>
                <a:latin typeface="Calibri"/>
              </a:rPr>
              <a:t>The model: gradient-boosted decision trees (LightGBM)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07B"/>
                </a:solidFill>
                <a:latin typeface="Calibri"/>
              </a:rPr>
              <a:t>An ACTUAL tree from the trained model. It combines 50 shallow trees like this into one score.</a:t>
            </a:r>
          </a:p>
        </p:txBody>
      </p:sp>
      <p:pic>
        <p:nvPicPr>
          <p:cNvPr id="5" name="Picture 4" descr="fig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6126"/>
            <a:ext cx="11091672" cy="392010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1672" cy="566928"/>
          </a:xfrm>
          <a:prstGeom prst="rect">
            <a:avLst/>
          </a:prstGeom>
          <a:solidFill>
            <a:srgbClr val="1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Takeaway:  Each tree asks yes/no questions about the 9 features; the model adds them up into 'how likely to beat its category'.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2947"/>
                </a:solidFill>
                <a:latin typeface="Calibri"/>
              </a:rPr>
              <a:t>The 9 features come from 5 pillars of fund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07B"/>
                </a:solidFill>
                <a:latin typeface="Calibri"/>
              </a:rPr>
              <a:t>Performance, Risk, Size, Cost, People -- each measured by concrete, machine-readable numbers.</a:t>
            </a:r>
          </a:p>
        </p:txBody>
      </p:sp>
      <p:pic>
        <p:nvPicPr>
          <p:cNvPr id="5" name="Picture 4" descr="fig_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163" y="1463040"/>
            <a:ext cx="8914625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1672" cy="566928"/>
          </a:xfrm>
          <a:prstGeom prst="rect">
            <a:avLst/>
          </a:prstGeom>
          <a:solidFill>
            <a:srgbClr val="1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Takeaway:  Nothing exotic: the same things a thoughtful analyst checks, made consistent and comparable across ~250 funds.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2947"/>
                </a:solidFill>
                <a:latin typeface="Calibri"/>
              </a:rPr>
              <a:t>Which features actually drive the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07B"/>
                </a:solidFill>
                <a:latin typeface="Calibri"/>
              </a:rPr>
              <a:t>Gain-based importance from the trained model.</a:t>
            </a:r>
          </a:p>
        </p:txBody>
      </p:sp>
      <p:pic>
        <p:nvPicPr>
          <p:cNvPr id="5" name="Picture 4" descr="fig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057" y="1463040"/>
            <a:ext cx="7728836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1672" cy="566928"/>
          </a:xfrm>
          <a:prstGeom prst="rect">
            <a:avLst/>
          </a:prstGeom>
          <a:solidFill>
            <a:srgbClr val="1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Takeaway:  Past return and fund size lead -- but as the next slide shows, NOT in the direction most investors assume.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2947"/>
                </a:solidFill>
                <a:latin typeface="Calibri"/>
              </a:rPr>
              <a:t>What the model actually learns: fade the favourites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07B"/>
                </a:solidFill>
                <a:latin typeface="Calibri"/>
              </a:rPr>
              <a:t>Real, monotonic pattern in the data (not a hand-picked example).</a:t>
            </a:r>
          </a:p>
        </p:txBody>
      </p:sp>
      <p:pic>
        <p:nvPicPr>
          <p:cNvPr id="5" name="Picture 4" descr="fig_mean_re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274" y="1463040"/>
            <a:ext cx="7810402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1672" cy="566928"/>
          </a:xfrm>
          <a:prstGeom prst="rect">
            <a:avLst/>
          </a:prstGeom>
          <a:solidFill>
            <a:srgbClr val="1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Takeaway:  Funds that beat their peers most often in the past tend to beat them LEAST next -- exactly why 'buy last year's winner' fails.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2947"/>
                </a:solidFill>
                <a:latin typeface="Calibri"/>
              </a:rPr>
              <a:t>Does the score predict the future? (out-of-sample)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07B"/>
                </a:solidFill>
                <a:latin typeface="Calibri"/>
              </a:rPr>
              <a:t>Walk-forward: train only on the past, predict the next cohort. Pooled across 2016-2022.</a:t>
            </a:r>
          </a:p>
        </p:txBody>
      </p:sp>
      <p:pic>
        <p:nvPicPr>
          <p:cNvPr id="5" name="Picture 4" descr="fig_ic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678" y="1463040"/>
            <a:ext cx="5453595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1672" cy="566928"/>
          </a:xfrm>
          <a:prstGeom prst="rect">
            <a:avLst/>
          </a:prstGeom>
          <a:solidFill>
            <a:srgbClr val="1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Takeaway:  Rank IC = +0.096 (above +0.10 within-category). Weak per-fund, but real and consistent -- and it compounds across a portfolio.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A2947"/>
                </a:solidFill>
                <a:latin typeface="Calibri"/>
              </a:rPr>
              <a:t>How we tested the ranking: a fair back-test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1A2947"/>
                </a:solidFill>
                <a:latin typeface="Calibri"/>
              </a:rPr>
              <a:t>The strategy fell out of the TEST, not the other way round.</a:t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1A2947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1A2947"/>
                </a:solidFill>
                <a:latin typeface="Calibri"/>
              </a:rPr>
              <a:t>To ask 'is the ranking real?', each year I:</a:t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1A2947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1A2947"/>
                </a:solidFill>
                <a:latin typeface="Calibri"/>
              </a:rPr>
              <a:t>  - took the 5 core categories</a:t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1A2947"/>
                </a:solidFill>
                <a:latin typeface="Calibri"/>
              </a:rPr>
              <a:t>     (Small, Mid, Large, Flexi, ELSS)</a:t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1A2947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1A2947"/>
                </a:solidFill>
                <a:latin typeface="Calibri"/>
              </a:rPr>
              <a:t>  - bought the top-2 funds per category</a:t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1A2947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1A2947"/>
                </a:solidFill>
                <a:latin typeface="Calibri"/>
              </a:rPr>
              <a:t>  - rebalanced yearly, held &gt;12 months (tax)</a:t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1A2947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1A2947"/>
                </a:solidFill>
                <a:latin typeface="Calibri"/>
              </a:rPr>
              <a:t>Benchmark: buy EVERY fund in those 5 categories, equally. A like-for-like peer.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1732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2F6FB0"/>
                </a:solidFill>
                <a:latin typeface="Calibri"/>
              </a:rPr>
              <a:t>Why category-neutral?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920240"/>
            <a:ext cx="53035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1A2947"/>
                </a:solidFill>
                <a:latin typeface="Calibri"/>
              </a:rPr>
              <a:t>We don't know which category will win, so we hold all five equally.</a:t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1A2947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1A2947"/>
                </a:solidFill>
                <a:latin typeface="Calibri"/>
              </a:rPr>
              <a:t>That strips out market and style bets and isolates ONE thing:  did picking the top-2 beat owning the whole category?</a:t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1A2947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1A2947"/>
                </a:solidFill>
                <a:latin typeface="Calibri"/>
              </a:rPr>
              <a:t>If yes, in every year, the ranking has genuine selection skill.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2947"/>
                </a:solidFill>
                <a:latin typeface="Calibri"/>
              </a:rPr>
              <a:t>Result: positive in all 7 back-test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07B"/>
                </a:solidFill>
                <a:latin typeface="Calibri"/>
              </a:rPr>
              <a:t>Edge of the top-2-per-category portfolio over the category-matched benchmark, 2016-2022.</a:t>
            </a:r>
          </a:p>
        </p:txBody>
      </p:sp>
      <p:pic>
        <p:nvPicPr>
          <p:cNvPr id="5" name="Picture 4" descr="fig_cohort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617" y="1463040"/>
            <a:ext cx="7563717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1672" cy="566928"/>
          </a:xfrm>
          <a:prstGeom prst="rect">
            <a:avLst/>
          </a:prstGeom>
          <a:solidFill>
            <a:srgbClr val="1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Takeaway:  +2.37%/yr average, 7/7 years positive. Not one lucky year -- a consistent edge.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2947"/>
                </a:solidFill>
                <a:latin typeface="Calibri"/>
              </a:rPr>
              <a:t>Where the skill lives (and where it doesn't)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07B"/>
                </a:solidFill>
                <a:latin typeface="Calibri"/>
              </a:rPr>
              <a:t>Edge by category. Honesty: it is concentrated, not uniform.</a:t>
            </a:r>
          </a:p>
        </p:txBody>
      </p:sp>
      <p:pic>
        <p:nvPicPr>
          <p:cNvPr id="5" name="Picture 4" descr="fig_skill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654" y="1463040"/>
            <a:ext cx="7873643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1672" cy="566928"/>
          </a:xfrm>
          <a:prstGeom prst="rect">
            <a:avLst/>
          </a:prstGeom>
          <a:solidFill>
            <a:srgbClr val="1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Takeaway:  Biggest in high-dispersion small-cap; near-zero in efficient large-cap where funds hug the index.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A2947"/>
                </a:solidFill>
                <a:latin typeface="Calibri"/>
              </a:rPr>
              <a:t>How I tried to DISPROVE it (assurance)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07B"/>
                </a:solidFill>
                <a:latin typeface="Calibri"/>
              </a:rPr>
              <a:t>A result you didn't try to break isn't validated. I tried hard to break this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2926080" cy="960120"/>
          </a:xfrm>
          <a:prstGeom prst="rect">
            <a:avLst/>
          </a:prstGeom>
          <a:solidFill>
            <a:srgbClr val="1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01368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D99A2B"/>
                </a:solidFill>
                <a:latin typeface="Calibri"/>
              </a:rPr>
              <a:t>Negative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764792"/>
            <a:ext cx="7863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A2947"/>
                </a:solidFill>
                <a:latin typeface="Calibri"/>
              </a:rPr>
              <a:t>Retrain on SCRAMBLED labels. A real model must beat that no-skill null -- ours does (p=0.000). The prototype's 'beats the market' claim FAILED this (p=0.125) and was dropped.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62072"/>
            <a:ext cx="2926080" cy="960120"/>
          </a:xfrm>
          <a:prstGeom prst="rect">
            <a:avLst/>
          </a:prstGeom>
          <a:solidFill>
            <a:srgbClr val="1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D99A2B"/>
                </a:solidFill>
                <a:latin typeface="Calibri"/>
              </a:rPr>
              <a:t>Red-team battery (6/6)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843784"/>
            <a:ext cx="7863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A2947"/>
                </a:solidFill>
                <a:latin typeface="Calibri"/>
              </a:rPr>
              <a:t>Portfolio size, model seed, leave-one-year-out, feature jackknife, 'is it just momentum?', and a 2,000-draw random-portfolio placebo -- all survived.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41063"/>
            <a:ext cx="2926080" cy="960120"/>
          </a:xfrm>
          <a:prstGeom prst="rect">
            <a:avLst/>
          </a:prstGeom>
          <a:solidFill>
            <a:srgbClr val="1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59351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D99A2B"/>
                </a:solidFill>
                <a:latin typeface="Calibri"/>
              </a:rPr>
              <a:t>Harder benchmarks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922776"/>
            <a:ext cx="7863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A2947"/>
                </a:solidFill>
                <a:latin typeface="Calibri"/>
              </a:rPr>
              <a:t>Survives a cap-weighted peer (+3.45%/yr) and a size/momentum factor regression: +1.72%/yr is irreducible skill (t=4.26); ~30% was a size tilt, now separated 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20055"/>
            <a:ext cx="2926080" cy="960120"/>
          </a:xfrm>
          <a:prstGeom prst="rect">
            <a:avLst/>
          </a:prstGeom>
          <a:solidFill>
            <a:srgbClr val="1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038343"/>
            <a:ext cx="2743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D99A2B"/>
                </a:solidFill>
                <a:latin typeface="Calibri"/>
              </a:rPr>
              <a:t>Live forward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5001768"/>
            <a:ext cx="7863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A2947"/>
                </a:solidFill>
                <a:latin typeface="Calibri"/>
              </a:rPr>
              <a:t>A real paper-trading account (real NAVs, daily marks) is now accumulating genuinely out-of-sample evidence.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9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What this is -- and what it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D99A2B"/>
                </a:solidFill>
                <a:latin typeface="Calibri"/>
              </a:rPr>
              <a:t>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3949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FFFFFF"/>
                </a:solidFill>
                <a:latin typeface="Calibri"/>
              </a:rPr>
              <a:t>- A within-category selection edge:</a:t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FFFFFF"/>
                </a:solidFill>
                <a:latin typeface="Calibri"/>
              </a:rPr>
              <a:t>   ~+2.4%/yr gross, ~+2.6% net of tax</a:t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FFFFFF"/>
                </a:solidFill>
                <a:latin typeface="Calibri"/>
              </a:rPr>
              <a:t>- Consistent: 7/7 back-test years</a:t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FFFFFF"/>
                </a:solidFill>
                <a:latin typeface="Calibri"/>
              </a:rPr>
              <a:t>- ~70% genuine skill after factors</a:t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FFFFFF"/>
                </a:solidFill>
                <a:latin typeface="Calibri"/>
              </a:rPr>
              <a:t>- A decision-support shortlist for</a:t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FFFFFF"/>
                </a:solidFill>
                <a:latin typeface="Calibri"/>
              </a:rPr>
              <a:t>   choosing between peer funds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E08A86"/>
                </a:solidFill>
                <a:latin typeface="Calibri"/>
              </a:rPr>
              <a:t>It is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65960"/>
            <a:ext cx="53035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E6D9D9"/>
                </a:solidFill>
                <a:latin typeface="Calibri"/>
              </a:rPr>
              <a:t>- Beating the market. If the market</a:t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E6D9D9"/>
                </a:solidFill>
                <a:latin typeface="Calibri"/>
              </a:rPr>
              <a:t>   falls, so does this.</a:t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E6D9D9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E6D9D9"/>
                </a:solidFill>
                <a:latin typeface="Calibri"/>
              </a:rPr>
              <a:t>- Uniform: near-zero in large-cap</a:t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E6D9D9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E6D9D9"/>
                </a:solidFill>
                <a:latin typeface="Calibri"/>
              </a:rPr>
              <a:t>- Proven across cycles: one country,</a:t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E6D9D9"/>
                </a:solidFill>
                <a:latin typeface="Calibri"/>
              </a:rPr>
              <a:t>   one bull-heavy era (2013-2025)</a:t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E6D9D9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E6D9D9"/>
                </a:solidFill>
                <a:latin typeface="Calibri"/>
              </a:rPr>
              <a:t>- Reliable without the &gt;12-month</a:t>
            </a:r>
          </a:p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E6D9D9"/>
                </a:solidFill>
                <a:latin typeface="Calibri"/>
              </a:rPr>
              <a:t>   hold -- tax would erase a short flip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A2947"/>
                </a:solidFill>
                <a:latin typeface="Calibri"/>
              </a:rPr>
              <a:t>What was actually shipped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627632"/>
            <a:ext cx="201168" cy="201168"/>
          </a:xfrm>
          <a:prstGeom prst="ellipse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2947"/>
                </a:solidFill>
                <a:latin typeface="Calibri"/>
              </a:rPr>
              <a:t>Retail fund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554480"/>
            <a:ext cx="7315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6B707B"/>
                </a:solidFill>
                <a:latin typeface="Calibri"/>
              </a:rPr>
              <a:t>Every fund rated &amp; tiered within its category -- the product a retail investor actually reads. Live on the website.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542032"/>
            <a:ext cx="201168" cy="201168"/>
          </a:xfrm>
          <a:prstGeom prst="ellipse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2947"/>
                </a:solidFill>
                <a:latin typeface="Calibri"/>
              </a:rPr>
              <a:t>Strategy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468880"/>
            <a:ext cx="7315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6B707B"/>
                </a:solidFill>
                <a:latin typeface="Calibri"/>
              </a:rPr>
              <a:t>The validated top-2-per-category, 10-fund portfolio -- the proof, made investable.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456432"/>
            <a:ext cx="201168" cy="201168"/>
          </a:xfrm>
          <a:prstGeom prst="ellipse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2947"/>
                </a:solidFill>
                <a:latin typeface="Calibri"/>
              </a:rPr>
              <a:t>Quality x Risk screener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383280"/>
            <a:ext cx="7315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6B707B"/>
                </a:solidFill>
                <a:latin typeface="Calibri"/>
              </a:rPr>
              <a:t>A 2-D map with plain-English reasons for each fund (SHAP).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70832"/>
            <a:ext cx="201168" cy="201168"/>
          </a:xfrm>
          <a:prstGeom prst="ellipse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9768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2947"/>
                </a:solidFill>
                <a:latin typeface="Calibri"/>
              </a:rPr>
              <a:t>Live paper-trading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297680"/>
            <a:ext cx="7315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6B707B"/>
                </a:solidFill>
                <a:latin typeface="Calibri"/>
              </a:rPr>
              <a:t>Forward test vs a category benchmark; annual rebalance + self-revalidation.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285232"/>
            <a:ext cx="201168" cy="201168"/>
          </a:xfrm>
          <a:prstGeom prst="ellipse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21208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A2947"/>
                </a:solidFill>
                <a:latin typeface="Calibri"/>
              </a:rPr>
              <a:t>One-command maintenance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212080"/>
            <a:ext cx="7315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6B707B"/>
                </a:solidFill>
                <a:latin typeface="Calibri"/>
              </a:rPr>
              <a:t>Yearly data refresh -&gt; retrain -&gt; regenerate all lists, self-checked.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A2947"/>
                </a:solidFill>
                <a:latin typeface="Calibri"/>
              </a:rPr>
              <a:t>What ~2.4% a year is worth (illustrative)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07B"/>
                </a:solidFill>
                <a:latin typeface="Calibri"/>
              </a:rPr>
              <a:t>Compounding a constant 20.0% vs 17.8% CAGR on Rs.10 lakh. Illustrative -- real returns vary yearly.</a:t>
            </a:r>
          </a:p>
        </p:txBody>
      </p:sp>
      <p:pic>
        <p:nvPicPr>
          <p:cNvPr id="5" name="Picture 4" descr="fig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966" y="1463040"/>
            <a:ext cx="7091018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1672" cy="566928"/>
          </a:xfrm>
          <a:prstGeom prst="rect">
            <a:avLst/>
          </a:prstGeom>
          <a:solidFill>
            <a:srgbClr val="1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Takeaway:  A modest annual edge, compounded and repeated across categories, is the whole game. Next: let the live paper-trade confirm it forward.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